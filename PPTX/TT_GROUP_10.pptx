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3"/>
  </p:sldMasterIdLst>
  <p:notesMasterIdLst>
    <p:notesMasterId r:id="rId14"/>
  </p:notesMasterIdLst>
  <p:sldIdLst>
    <p:sldId id="261" r:id="rId4"/>
    <p:sldId id="271" r:id="rId5"/>
    <p:sldId id="272" r:id="rId6"/>
    <p:sldId id="274" r:id="rId7"/>
    <p:sldId id="275" r:id="rId8"/>
    <p:sldId id="276" r:id="rId9"/>
    <p:sldId id="277" r:id="rId10"/>
    <p:sldId id="278" r:id="rId11"/>
    <p:sldId id="280" r:id="rId12"/>
    <p:sldId id="270" r:id="rId13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9" autoAdjust="0"/>
    <p:restoredTop sz="94660"/>
  </p:normalViewPr>
  <p:slideViewPr>
    <p:cSldViewPr snapToGrid="0">
      <p:cViewPr varScale="1">
        <p:scale>
          <a:sx n="85" d="100"/>
          <a:sy n="85" d="100"/>
        </p:scale>
        <p:origin x="30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C0000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808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0687-F0A6-4844-9D0E-4A71047B582E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5848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FontTx/>
              <a:buNone/>
              <a:defRPr/>
            </a:lvl1pPr>
            <a:lvl2pPr marL="457200" indent="0" algn="just">
              <a:buFontTx/>
              <a:buNone/>
              <a:defRPr/>
            </a:lvl2pPr>
            <a:lvl3pPr marL="914400" indent="0" algn="just">
              <a:buFontTx/>
              <a:buNone/>
              <a:defRPr/>
            </a:lvl3pPr>
            <a:lvl4pPr marL="1371600" indent="0" algn="just">
              <a:buFontTx/>
              <a:buNone/>
              <a:defRPr/>
            </a:lvl4pPr>
            <a:lvl5pPr marL="1828800" indent="0" algn="just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3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8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96F3C-EA11-4B8E-A5D6-898715DAA61A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808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95129"/>
            <a:ext cx="5181600" cy="40818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95129"/>
            <a:ext cx="5181600" cy="4081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42CF6-A011-4145-8138-B18222BE784F}" type="datetime1">
              <a:rPr lang="en-GB" smtClean="0"/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66776"/>
            <a:ext cx="10515600" cy="8239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2" y="1857375"/>
            <a:ext cx="5157787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2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857375"/>
            <a:ext cx="5183188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6141-2144-4216-A5D8-625EEC9D46A7}" type="datetime1">
              <a:rPr lang="en-GB" smtClean="0"/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31884-8841-474E-B980-3663B77BB24B}" type="datetime1">
              <a:rPr lang="en-GB" smtClean="0"/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E740A-6F50-4770-9109-746EC93EBE8F}" type="datetime1">
              <a:rPr lang="en-GB" smtClean="0"/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2" y="987429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33542-D7FF-4C5D-BCD1-FC068661ADB1}" type="datetime1">
              <a:rPr lang="en-GB" smtClean="0"/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70A37-54E1-46AB-854A-7F4CAEAC5932}" type="datetime1">
              <a:rPr lang="en-GB" smtClean="0"/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13F3-5CA4-464A-A58E-B619976AB19A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203B-5407-419A-8A7D-10870893C35F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8046E-BA9B-4548-A8AC-F9F2F702B23B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2.png"/><Relationship Id="rId14" Type="http://schemas.openxmlformats.org/officeDocument/2006/relationships/image" Target="../media/image1.pn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228232"/>
            <a:ext cx="10515600" cy="7674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75029"/>
            <a:ext cx="10515600" cy="40019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4C18046E-BA9B-4548-A8AC-F9F2F702B23B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C00000"/>
                </a:solidFill>
              </a:defRPr>
            </a:lvl1pPr>
          </a:lstStyle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</a:fld>
            <a:endParaRPr lang="en-GB"/>
          </a:p>
        </p:txBody>
      </p:sp>
      <p:sp>
        <p:nvSpPr>
          <p:cNvPr id="7" name="Title 1"/>
          <p:cNvSpPr txBox="1"/>
          <p:nvPr/>
        </p:nvSpPr>
        <p:spPr>
          <a:xfrm>
            <a:off x="5344357" y="228539"/>
            <a:ext cx="6847643" cy="6890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charset="0"/>
                <a:ea typeface="+mj-ea"/>
                <a:cs typeface="Times New Roman" panose="02020603050405020304" charset="0"/>
              </a:defRPr>
            </a:lvl1pPr>
          </a:lstStyle>
          <a:p>
            <a:pPr algn="ctr"/>
            <a:r>
              <a:rPr lang="en-US" sz="2400" b="1">
                <a:solidFill>
                  <a:srgbClr val="008080"/>
                </a:solidFill>
              </a:rPr>
              <a:t>TRƯỜNG ĐẠI HỌC GIAO THÔNG VẬN TẢI </a:t>
            </a:r>
            <a:br>
              <a:rPr lang="en-US" sz="2400" b="1">
                <a:solidFill>
                  <a:srgbClr val="008080"/>
                </a:solidFill>
              </a:rPr>
            </a:br>
            <a:r>
              <a:rPr lang="en-US" sz="2400" b="1">
                <a:solidFill>
                  <a:srgbClr val="008080"/>
                </a:solidFill>
              </a:rPr>
              <a:t>THÀNH PHỐ HỒ CHÍ MINH</a:t>
            </a:r>
            <a:endParaRPr lang="en-GB" sz="2400" b="1" dirty="0"/>
          </a:p>
        </p:txBody>
      </p:sp>
      <p:pic>
        <p:nvPicPr>
          <p:cNvPr id="9" name="Picture 8" descr="A colorful text on a black background&#10;&#10;Description automatically generated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5" y="186587"/>
            <a:ext cx="3931920" cy="74837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5848B"/>
          </a:solidFill>
          <a:latin typeface="Segoe UI Black" panose="020B0A02040204020203" pitchFamily="34" charset="0"/>
          <a:ea typeface="Segoe UI Black" panose="020B0A02040204020203" pitchFamily="34" charset="0"/>
          <a:cs typeface="Times New Roman" panose="0202060305040502030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32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8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4265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ts val="130"/>
        </a:spcBef>
        <a:buFont typeface="Arial" panose="020B0604020202020204" pitchFamily="34" charset="0"/>
        <a:buChar char="–"/>
        <a:defRPr sz="3735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–"/>
        <a:defRPr sz="2665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»"/>
        <a:defRPr sz="2665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Title 6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000" cy="1529715"/>
          </a:xfrm>
        </p:spPr>
        <p:txBody>
          <a:bodyPr>
            <a:normAutofit/>
          </a:bodyPr>
          <a:p>
            <a:r>
              <a:rPr lang="en-US" altLang="en-US" sz="3200" b="1" dirty="0">
                <a:sym typeface="+mn-ea"/>
              </a:rPr>
              <a:t>APP for demonstration Virtual</a:t>
            </a:r>
            <a:r>
              <a:rPr lang="vi-VN" altLang="en-US" sz="3200" b="1" dirty="0">
                <a:sym typeface="+mn-ea"/>
              </a:rPr>
              <a:t> </a:t>
            </a:r>
            <a:r>
              <a:rPr lang="en-US" altLang="en-US" sz="3200" b="1" dirty="0">
                <a:sym typeface="+mn-ea"/>
              </a:rPr>
              <a:t>Memory management algorithm:</a:t>
            </a:r>
            <a:r>
              <a:rPr lang="vi-VN" altLang="en-US" sz="3200" b="1" dirty="0">
                <a:sym typeface="+mn-ea"/>
              </a:rPr>
              <a:t> </a:t>
            </a:r>
            <a:r>
              <a:rPr lang="en-US" altLang="en-US" sz="3200" b="1" dirty="0">
                <a:sym typeface="+mn-ea"/>
              </a:rPr>
              <a:t>LRU</a:t>
            </a:r>
            <a:r>
              <a:rPr lang="vi-VN" altLang="en-US" sz="3200" b="1" dirty="0">
                <a:sym typeface="+mn-ea"/>
              </a:rPr>
              <a:t>, </a:t>
            </a:r>
            <a:r>
              <a:rPr lang="en-US" altLang="en-US" sz="3200" b="1" dirty="0">
                <a:sym typeface="+mn-ea"/>
              </a:rPr>
              <a:t>FIFO and OPT</a:t>
            </a:r>
            <a:endParaRPr lang="en-US" sz="3200"/>
          </a:p>
        </p:txBody>
      </p:sp>
      <p:sp>
        <p:nvSpPr>
          <p:cNvPr id="8" name="Subtitle 7"/>
          <p:cNvSpPr>
            <a:spLocks noGrp="1"/>
          </p:cNvSpPr>
          <p:nvPr>
            <p:ph type="subTitle" idx="1"/>
          </p:nvPr>
        </p:nvSpPr>
        <p:spPr>
          <a:xfrm>
            <a:off x="838200" y="3013710"/>
            <a:ext cx="9763125" cy="1879600"/>
          </a:xfrm>
        </p:spPr>
        <p:txBody>
          <a:bodyPr>
            <a:noAutofit/>
          </a:bodyPr>
          <a:p>
            <a:pPr algn="l"/>
            <a:r>
              <a:rPr lang="vi-VN" sz="2000" dirty="0">
                <a:sym typeface="+mn-ea"/>
              </a:rPr>
              <a:t>List of members :</a:t>
            </a:r>
            <a:endParaRPr lang="vi-VN" sz="2000" dirty="0"/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Nguyễn Hoàng Duy       MSSV: 080206011748</a:t>
            </a:r>
            <a:endParaRPr lang="vi-VN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Nguyễn Gia Huy            MSSV: 079206023415</a:t>
            </a:r>
            <a:endParaRPr lang="vi-VN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Lê Minh Khang              MSSV: </a:t>
            </a:r>
            <a:r>
              <a:rPr lang="en-US" altLang="en-US" sz="2000" dirty="0">
                <a:latin typeface="Times New Roman" panose="02020603050405020304" charset="0"/>
              </a:rPr>
              <a:t>095206004843</a:t>
            </a:r>
            <a:endParaRPr lang="en-US" altLang="en-US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Trương Văn Hào             MSSV: </a:t>
            </a:r>
            <a:r>
              <a:rPr lang="en-US" altLang="en-US" sz="2000" dirty="0">
                <a:latin typeface="Times New Roman" panose="02020603050405020304" charset="0"/>
              </a:rPr>
              <a:t>075206016631</a:t>
            </a:r>
            <a:endParaRPr lang="en-US" altLang="en-US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Phạm Nguyễn Bình An   MSSV: </a:t>
            </a:r>
            <a:r>
              <a:rPr lang="en-US" altLang="en-US" sz="2000" dirty="0">
                <a:latin typeface="Times New Roman" panose="02020603050405020304" charset="0"/>
              </a:rPr>
              <a:t>051206002496</a:t>
            </a:r>
            <a:endParaRPr lang="en-US" altLang="en-US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Nguyễn Văn Hùng          MSSV: </a:t>
            </a:r>
            <a:r>
              <a:rPr lang="en-US" altLang="en-US" sz="2000" dirty="0">
                <a:latin typeface="Times New Roman" panose="02020603050405020304" charset="0"/>
                <a:sym typeface="+mn-ea"/>
              </a:rPr>
              <a:t>064206005588</a:t>
            </a:r>
            <a:endParaRPr lang="en-US" altLang="en-US" sz="2000" dirty="0">
              <a:latin typeface="Times New Roman" panose="02020603050405020304" charset="0"/>
              <a:sym typeface="+mn-ea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r>
              <a:rPr lang="vi-VN" altLang="en-GB" sz="1600"/>
              <a:t>30/03/</a:t>
            </a:r>
            <a:r>
              <a:rPr lang="vi-VN" altLang="en-GB" sz="1600"/>
              <a:t>2026</a:t>
            </a:r>
            <a:endParaRPr lang="vi-VN" altLang="en-GB" sz="16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 sz="1600"/>
              <a:t>KIẾN THỨC - KỸ NĂNG - SÁNG TẠO - HỘI NHẬP</a:t>
            </a:r>
            <a:endParaRPr lang="en-GB" sz="16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z="1600" smtClean="0"/>
            </a:fld>
            <a:endParaRPr lang="en-GB"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effectLst/>
                <a:uFillTx/>
                <a:latin typeface="Times New Roman" panose="02020603050405020304" charset="0"/>
              </a:rPr>
              <a:t>Giới Thiệu</a:t>
            </a:r>
            <a:endParaRPr lang="vi-VN" altLang="en-US" sz="3200" b="1">
              <a:solidFill>
                <a:schemeClr val="tx1"/>
              </a:solidFill>
              <a:effectLst/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87120" y="2174875"/>
            <a:ext cx="10266680" cy="3877310"/>
          </a:xfrm>
        </p:spPr>
        <p:txBody>
          <a:bodyPr>
            <a:normAutofit fontScale="70000"/>
          </a:bodyPr>
          <a:p>
            <a:r>
              <a:rPr lang="en-US" altLang="en-US"/>
              <a:t>Hiểu cơ chế Virtual Memory</a:t>
            </a:r>
            <a:endParaRPr lang="en-US" altLang="en-US"/>
          </a:p>
          <a:p>
            <a:r>
              <a:rPr lang="en-US" altLang="en-US"/>
              <a:t>Các hoạt </a:t>
            </a:r>
            <a:r>
              <a:rPr lang="en-US" altLang="en-US"/>
              <a:t>đ</a:t>
            </a:r>
            <a:r>
              <a:rPr lang="en-US" altLang="en-US"/>
              <a:t>ộng của:</a:t>
            </a:r>
            <a:endParaRPr lang="en-US" altLang="en-US"/>
          </a:p>
          <a:p>
            <a:r>
              <a:rPr lang="en-US" altLang="en-US"/>
              <a:t>             FIFO</a:t>
            </a:r>
            <a:endParaRPr lang="en-US" altLang="en-US"/>
          </a:p>
          <a:p>
            <a:r>
              <a:rPr lang="en-US" altLang="en-US"/>
              <a:t>             LRU</a:t>
            </a:r>
            <a:endParaRPr lang="en-US" altLang="en-US"/>
          </a:p>
          <a:p>
            <a:r>
              <a:rPr lang="en-US" altLang="en-US"/>
              <a:t>             OPT</a:t>
            </a:r>
            <a:endParaRPr lang="en-US" altLang="en-US"/>
          </a:p>
          <a:p>
            <a:r>
              <a:rPr lang="en-US" altLang="en-US"/>
              <a:t>So sánh hiệu n</a:t>
            </a:r>
            <a:r>
              <a:rPr lang="en-US" altLang="en-US"/>
              <a:t>ă</a:t>
            </a:r>
            <a:r>
              <a:rPr lang="en-US" altLang="en-US"/>
              <a:t>ng thông qua:</a:t>
            </a:r>
            <a:endParaRPr lang="en-US" altLang="en-US"/>
          </a:p>
          <a:p>
            <a:r>
              <a:rPr lang="en-US" altLang="en-US"/>
              <a:t>      + Số lỗi trang (Page Fault)</a:t>
            </a:r>
            <a:endParaRPr lang="en-US" altLang="en-US"/>
          </a:p>
          <a:p>
            <a:r>
              <a:rPr lang="en-US" altLang="en-US"/>
              <a:t>      + Thời gian thực thi</a:t>
            </a:r>
            <a:endParaRPr lang="en-US" altLang="en-US"/>
          </a:p>
          <a:p>
            <a:r>
              <a:rPr lang="en-US" altLang="en-US"/>
              <a:t>Đư</a:t>
            </a:r>
            <a:r>
              <a:rPr lang="en-US" altLang="en-US"/>
              <a:t>a ra </a:t>
            </a:r>
            <a:r>
              <a:rPr lang="en-US" altLang="en-US"/>
              <a:t>đ</a:t>
            </a:r>
            <a:r>
              <a:rPr lang="en-US" altLang="en-US"/>
              <a:t>ánh giá và kết luận</a:t>
            </a:r>
            <a:endParaRPr lang="en-US" altLang="en-US"/>
          </a:p>
          <a:p>
            <a:endParaRPr lang="en-US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1. CƠ CHẾ</a:t>
            </a:r>
            <a:endParaRPr lang="vi-VN" altLang="en-US" sz="3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74875"/>
            <a:ext cx="9585960" cy="3562985"/>
          </a:xfrm>
        </p:spPr>
        <p:txBody>
          <a:bodyPr>
            <a:normAutofit/>
          </a:bodyPr>
          <a:p>
            <a:pPr marL="734060" lvl="1" indent="-36703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Bộ nhớ là tài nguyên quan trọng của hệ điều hành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RAM có giới hạn → cần quản lý hiệu quả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Khi chương trình cần nhiều bộ nhớ → xảy ra page fault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5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Cần thuật toán thay thế trang để tối ưu hiệu suất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5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👉 Dự án xây dựng công cụ mô phỏng trực quan các thuật toán này</a:t>
            </a:r>
            <a:endParaRPr lang="en-US" altLang="en-US" sz="20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5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2. THUẬT TOÁN FIFO</a:t>
            </a:r>
            <a:endParaRPr lang="vi-VN" altLang="en-US" sz="35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74875"/>
            <a:ext cx="10515600" cy="4030980"/>
          </a:xfrm>
        </p:spPr>
        <p:txBody>
          <a:bodyPr/>
          <a:p>
            <a:r>
              <a:rPr lang="en-US" altLang="en-US" sz="2000">
                <a:solidFill>
                  <a:schemeClr val="tx1"/>
                </a:solidFill>
                <a:uFillTx/>
              </a:rPr>
              <a:t>Nguyên l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ý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: 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        Trang vào tr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ớc → ra tr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ớc (Queue)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Cách hoạt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ộng: 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        Khi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ầy khung → xóa trang c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ũ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 nhất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u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iểm: 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Dễ cài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ặt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Nh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ợc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đ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iểm: 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        Không tối 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ư</a:t>
            </a:r>
            <a:r>
              <a:rPr lang="en-US" altLang="en-US" sz="2000">
                <a:solidFill>
                  <a:schemeClr val="tx1"/>
                </a:solidFill>
                <a:uFillTx/>
              </a:rPr>
              <a:t>u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r>
              <a:rPr lang="en-US" altLang="en-US" sz="2000">
                <a:solidFill>
                  <a:schemeClr val="tx1"/>
                </a:solidFill>
                <a:uFillTx/>
              </a:rPr>
              <a:t>             Có thể xảy ra Belady’s anomaly</a:t>
            </a:r>
            <a:endParaRPr lang="en-US" altLang="en-US" sz="2000">
              <a:solidFill>
                <a:schemeClr val="tx1"/>
              </a:solidFill>
              <a:uFillTx/>
            </a:endParaRPr>
          </a:p>
          <a:p>
            <a:endParaRPr lang="en-US" altLang="en-US" sz="1400">
              <a:solidFill>
                <a:schemeClr val="tx1"/>
              </a:solidFill>
              <a:uFillTx/>
            </a:endParaRPr>
          </a:p>
          <a:p>
            <a:endParaRPr lang="en-US" altLang="en-US" sz="1800">
              <a:solidFill>
                <a:schemeClr val="tx1"/>
              </a:solidFill>
              <a:uFillTx/>
            </a:endParaRPr>
          </a:p>
          <a:p>
            <a:endParaRPr lang="en-US" altLang="en-US" sz="1800">
              <a:solidFill>
                <a:schemeClr val="tx1"/>
              </a:solidFill>
              <a:uFillTx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  <p:pic>
        <p:nvPicPr>
          <p:cNvPr id="7" name="Picture 6" descr="Result_FIF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0110" y="2174240"/>
            <a:ext cx="6136005" cy="34874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 cap="all">
                <a:solidFill>
                  <a:schemeClr val="tx1"/>
                </a:solidFill>
                <a:uFillTx/>
                <a:latin typeface="Times New Roman" panose="02020603050405020304" charset="0"/>
              </a:rPr>
              <a:t>3. THUẬT </a:t>
            </a:r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TOÁN </a:t>
            </a:r>
            <a:r>
              <a:rPr lang="vi-VN" altLang="en-US" sz="3200" b="1" cap="all">
                <a:solidFill>
                  <a:schemeClr val="tx1"/>
                </a:solidFill>
                <a:uFillTx/>
                <a:latin typeface="Times New Roman" panose="02020603050405020304" charset="0"/>
              </a:rPr>
              <a:t>LRU</a:t>
            </a:r>
            <a:endParaRPr lang="vi-VN" altLang="en-US" sz="3200" b="1" cap="all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Nguyên lý: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</a:t>
            </a:r>
            <a:r>
              <a:rPr lang="vi-VN" alt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</a:t>
            </a: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Trang ít được sử dụng gần đây nhất → bị thay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Dựa trên: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👉 Tính cục bộ (Locality)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Ưu điểm: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Hiệu quả cao trong thực tế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Cải tiến trong đề tài: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Dùng OrderedDict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Thao tác nhanh O(1)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👉 Gần với hành vi thực tế của chương trình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  <p:pic>
        <p:nvPicPr>
          <p:cNvPr id="7" name="Picture 6" descr="Result_LRU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2870" y="2174875"/>
            <a:ext cx="5739130" cy="34855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4. THUẬT TOÁN OPT</a:t>
            </a:r>
            <a:endParaRPr lang="vi-VN" altLang="en-US" sz="3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Nguyên lý: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Thay trang sẽ không dùng trong tương lai lâu nhất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Đặc điểm: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Tối ưu tuyệt đối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Nhược điểm: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Không thể áp dụng thực tế (cần biết trước tương lai)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Vai trò: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👉 Làm chuẩn so sánh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>
              <a:lnSpc>
                <a:spcPct val="100000"/>
              </a:lnSpc>
            </a:pPr>
            <a:endParaRPr lang="en-US" sz="20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  <p:pic>
        <p:nvPicPr>
          <p:cNvPr id="7" name="Picture 6" descr="Result_OP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6280" y="1823085"/>
            <a:ext cx="5125720" cy="36442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latin typeface="Times New Roman" panose="02020603050405020304" charset="0"/>
              </a:rPr>
              <a:t>5. SO SÁNH CÁC </a:t>
            </a:r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THUẬT </a:t>
            </a:r>
            <a:r>
              <a:rPr lang="vi-VN" altLang="en-US" sz="3200" b="1">
                <a:solidFill>
                  <a:schemeClr val="tx1"/>
                </a:solidFill>
                <a:latin typeface="Times New Roman" panose="02020603050405020304" charset="0"/>
              </a:rPr>
              <a:t>TOÁN</a:t>
            </a:r>
            <a:endParaRPr lang="vi-VN" altLang="en-US" sz="3200" b="1">
              <a:solidFill>
                <a:schemeClr val="tx1"/>
              </a:solidFill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695960" lvl="1" indent="-34798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Chuỗi tham chiếu: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👉</a:t>
            </a:r>
            <a:r>
              <a:rPr lang="vi-VN" alt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</a:t>
            </a: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7,0,1,2,0,3,0,4,2,3,0,3,2,1,2,0,1,7,0,1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95960" lvl="1" indent="-34798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Số khung trang: 3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695960" lvl="1" indent="-34798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Mỗi thuật toán chạy trên cùng dữ liệu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👉 </a:t>
            </a:r>
            <a:r>
              <a:rPr lang="vi-VN" alt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Đảm bảo tính công bằng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endParaRPr lang="en-US" sz="3200"/>
          </a:p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  <p:graphicFrame>
        <p:nvGraphicFramePr>
          <p:cNvPr id="7" name="Table 3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751195" y="2136140"/>
          <a:ext cx="5688965" cy="3568700"/>
        </p:xfrm>
        <a:graphic>
          <a:graphicData uri="http://schemas.openxmlformats.org/drawingml/2006/table">
            <a:tbl>
              <a:tblPr/>
              <a:tblGrid>
                <a:gridCol w="1564640"/>
                <a:gridCol w="2299335"/>
                <a:gridCol w="1824990"/>
              </a:tblGrid>
              <a:tr h="1198880"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 Bold" panose="02020803070505020304"/>
                          <a:ea typeface="Times New Roman Bold" panose="02020803070505020304"/>
                          <a:cs typeface="Times New Roman Bold" panose="02020803070505020304"/>
                          <a:sym typeface="Times New Roman Bold" panose="02020803070505020304"/>
                        </a:rPr>
                        <a:t>THUẬT TOÁN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 Bold" panose="02020803070505020304"/>
                        <a:ea typeface="Times New Roman Bold" panose="02020803070505020304"/>
                        <a:cs typeface="Times New Roman Bold" panose="02020803070505020304"/>
                        <a:sym typeface="Times New Roman Bold" panose="020208030705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 Bold" panose="02020803070505020304"/>
                          <a:ea typeface="Times New Roman Bold" panose="02020803070505020304"/>
                          <a:cs typeface="Times New Roman Bold" panose="02020803070505020304"/>
                          <a:sym typeface="Times New Roman Bold" panose="02020803070505020304"/>
                        </a:rPr>
                        <a:t>TIME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 Bold" panose="02020803070505020304"/>
                        <a:ea typeface="Times New Roman Bold" panose="02020803070505020304"/>
                        <a:cs typeface="Times New Roman Bold" panose="02020803070505020304"/>
                        <a:sym typeface="Times New Roman Bold" panose="020208030705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 Bold" panose="02020803070505020304"/>
                          <a:ea typeface="Times New Roman Bold" panose="02020803070505020304"/>
                          <a:cs typeface="Times New Roman Bold" panose="02020803070505020304"/>
                          <a:sym typeface="Times New Roman Bold" panose="02020803070505020304"/>
                        </a:rPr>
                        <a:t>PAGE FAULT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 Bold" panose="02020803070505020304"/>
                        <a:ea typeface="Times New Roman Bold" panose="02020803070505020304"/>
                        <a:cs typeface="Times New Roman Bold" panose="02020803070505020304"/>
                        <a:sym typeface="Times New Roman Bold" panose="020208030705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9940"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FIFO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Nhanh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15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9940"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LRU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Nhanh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12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9940"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OPT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Lâu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rtlCol="0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000" b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9</a:t>
                      </a:r>
                      <a:endParaRPr lang="en-US" sz="2000" b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190500" marR="190500" marT="190500" marB="190500" anchor="t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6. NHẬN XÉT</a:t>
            </a:r>
            <a:endParaRPr lang="vi-VN" altLang="en-US" sz="3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Về Hiệu suất (Page Fault): OPT tối ưu nhất (9 lỗi) &gt; LRU (12 lỗi) &gt; FIFO kém nhất (15 lỗi).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Về Thời gian xử lý: FIFO và LRU có tốc độ xử lý nhanh. OPT chạy chậm nhất do tốn tài nguyên tính toán để "quét" tương lai.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Kết luận thực tiễn: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OPT: Số lỗi trang thấp nhất nhưng thời gian xử lý lâu. Chỉ mang tính lý thuyết để làm hệ quy chiếu.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FIFO: Tốc độ nhanh nhưng số lỗi trang cao nhất. Kém hiệu quả trong thực tế.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LRU: Ít lỗi trang và tốc độ xử lý nhanh. Thuật toán tối ưu và mang tính thực tiễn cao nhất.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ct val="100000"/>
              </a:lnSpc>
            </a:pPr>
            <a:endParaRPr lang="en-US" sz="2000"/>
          </a:p>
          <a:p>
            <a:pPr algn="l">
              <a:lnSpc>
                <a:spcPct val="100000"/>
              </a:lnSpc>
            </a:pPr>
            <a:endParaRPr lang="en-US" sz="2000"/>
          </a:p>
          <a:p>
            <a:endParaRPr lang="en-US" sz="20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vi-VN" altLang="en-US" sz="3200" b="1">
                <a:solidFill>
                  <a:schemeClr val="tx1"/>
                </a:solidFill>
                <a:uFillTx/>
                <a:latin typeface="Times New Roman" panose="02020603050405020304" charset="0"/>
              </a:rPr>
              <a:t>7. KẾT LUẬN</a:t>
            </a:r>
            <a:endParaRPr lang="vi-VN" altLang="en-US" sz="3200" b="1">
              <a:solidFill>
                <a:schemeClr val="tx1"/>
              </a:solidFill>
              <a:uFillTx/>
              <a:latin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 algn="l">
              <a:lnSpc>
                <a:spcPts val="4760"/>
              </a:lnSpc>
            </a:pPr>
            <a:endParaRPr lang="en-US" sz="3200"/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OPT: Số lỗi trang thấp nhất nhưng thời gian xử lý lâu. Chỉ mang tính lý thuyết để làm hệ quy chiếu.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FIFO: Tốc độ nhanh nhưng số lỗi trang cao nhất. Kém hiệu quả trong thực tế.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34060" lvl="1" indent="-367030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sz="20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LRU: Ít lỗi trang và tốc độ xử lý nhanh. Thuật toán tối ưu và mang tính thực tiễn cao nhất.</a:t>
            </a:r>
            <a:endParaRPr lang="en-US" sz="200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l">
              <a:lnSpc>
                <a:spcPts val="4760"/>
              </a:lnSpc>
            </a:pPr>
            <a:endParaRPr lang="en-US" sz="20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9368" y="2294632"/>
            <a:ext cx="4919423" cy="1355725"/>
          </a:xfrm>
          <a:prstGeom prst="rect">
            <a:avLst/>
          </a:prstGeom>
          <a:noFill/>
        </p:spPr>
        <p:txBody>
          <a:bodyPr wrap="square" lIns="127000" tIns="127000" rIns="127000" bIns="12700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6335" dirty="0">
                <a:solidFill>
                  <a:srgbClr val="1A867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Thanks！</a:t>
            </a:r>
            <a:endParaRPr lang="en-US" sz="192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441*267"/>
  <p:tag name="TABLE_ENDDRAG_RECT" val="452*168*441*267"/>
</p:tagLst>
</file>

<file path=ppt/theme/theme1.xml><?xml version="1.0" encoding="utf-8"?>
<a:theme xmlns:a="http://schemas.openxmlformats.org/drawingml/2006/main" name="UTH-Slide-Theme_v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3025</Words>
  <Application>WPS Presentation</Application>
  <PresentationFormat>Màn hình rộng</PresentationFormat>
  <Paragraphs>182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28" baseType="lpstr">
      <vt:lpstr>Arial</vt:lpstr>
      <vt:lpstr>SimSun</vt:lpstr>
      <vt:lpstr>Wingdings</vt:lpstr>
      <vt:lpstr>Times New Roman</vt:lpstr>
      <vt:lpstr>Segoe UI Black</vt:lpstr>
      <vt:lpstr>Arial</vt:lpstr>
      <vt:lpstr>Times New Roman</vt:lpstr>
      <vt:lpstr>Times New Roman Bold</vt:lpstr>
      <vt:lpstr>Noto Sans</vt:lpstr>
      <vt:lpstr>Segoe Print</vt:lpstr>
      <vt:lpstr>Noto Sans</vt:lpstr>
      <vt:lpstr>Noto Sans</vt:lpstr>
      <vt:lpstr>Calibri</vt:lpstr>
      <vt:lpstr>Microsoft YaHei</vt:lpstr>
      <vt:lpstr>Arial Unicode MS</vt:lpstr>
      <vt:lpstr>MingLiU-ExtB</vt:lpstr>
      <vt:lpstr>UTH-Slide-Theme_v2</vt:lpstr>
      <vt:lpstr>Office Theme</vt:lpstr>
      <vt:lpstr>APP for demonstration Virtual Memory management algorithm: LRU, FIFO and OPT</vt:lpstr>
      <vt:lpstr>Giới Thiệu</vt:lpstr>
      <vt:lpstr>1. CƠ CHẾ</vt:lpstr>
      <vt:lpstr>2. THUẬT TOÁN FIFO</vt:lpstr>
      <vt:lpstr>3. THUẬT TOÁN LRU</vt:lpstr>
      <vt:lpstr>4. THUẬT TOÁN OPT</vt:lpstr>
      <vt:lpstr>5. SO SÁNH CÁC THUẬT TOÁN</vt:lpstr>
      <vt:lpstr>6. NHẬN XÉT</vt:lpstr>
      <vt:lpstr>7. KẾT LUẬN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Duy Nguyễn Hoàng</cp:lastModifiedBy>
  <cp:revision>8</cp:revision>
  <dcterms:created xsi:type="dcterms:W3CDTF">2026-03-04T04:01:00Z</dcterms:created>
  <dcterms:modified xsi:type="dcterms:W3CDTF">2026-04-18T16:18:14Z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A09BD84EA8514B3EA290D7CEB040522A_12</vt:lpwstr>
  </property>
  <property fmtid="{D5CDD505-2E9C-101B-9397-08002B2CF9AE}" pid="3" name="KSOProductBuildVer">
    <vt:lpwstr>1033-12.2.0.23196</vt:lpwstr>
  </property>
</Properties>
</file>