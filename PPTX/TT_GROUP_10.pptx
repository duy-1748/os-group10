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Times New Roman" charset="1" panose="02020603050405020304"/>
      <p:regular r:id="rId15"/>
    </p:embeddedFont>
    <p:embeddedFont>
      <p:font typeface="Times New Roman Bold" charset="1" panose="020208030705050203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471751" y="5262689"/>
            <a:ext cx="3562541" cy="1998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6"/>
              </a:lnSpc>
            </a:pPr>
            <a:r>
              <a:rPr lang="en-US" sz="2861">
                <a:solidFill>
                  <a:srgbClr val="11AFA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Môn: Hệ điều hành</a:t>
            </a:r>
          </a:p>
          <a:p>
            <a:pPr algn="l">
              <a:lnSpc>
                <a:spcPts val="4006"/>
              </a:lnSpc>
            </a:pPr>
            <a:r>
              <a:rPr lang="en-US" sz="2861">
                <a:solidFill>
                  <a:srgbClr val="11AFA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GVHD: Mai Ngọc Châu</a:t>
            </a:r>
          </a:p>
          <a:p>
            <a:pPr algn="l">
              <a:lnSpc>
                <a:spcPts val="4006"/>
              </a:lnSpc>
            </a:pPr>
            <a:r>
              <a:rPr lang="en-US" sz="2861">
                <a:solidFill>
                  <a:srgbClr val="11AFA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Nhóm: 10</a:t>
            </a:r>
          </a:p>
          <a:p>
            <a:pPr algn="ctr">
              <a:lnSpc>
                <a:spcPts val="4006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2217062"/>
            <a:ext cx="2753558" cy="657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243"/>
              </a:lnSpc>
            </a:pPr>
            <a:r>
              <a:rPr lang="en-US" sz="374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GIỚI THIỆU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216222"/>
            <a:ext cx="5830491" cy="600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iểu cơ chế Virtual Memory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hoạt động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của: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FIFO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LRU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 sánh hiệu năng thông qua: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+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Số lỗi trang (Page Fault)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+ Thời gian thực thi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Đư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ra đánh giá và kết luận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2367909"/>
            <a:ext cx="2151459" cy="617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sz="344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 CƠ CHẾ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8596" y="3457955"/>
            <a:ext cx="12097465" cy="3599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Bộ n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hớ là tài nguyên quan trọng của hệ điều hành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RAM có giới hạn → cần quản lý hiệu quả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Khi chương trình cần nhiều bộ nhớ → xảy ra page fault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Cần thuật toán thay thế trang để tối ưu hiệu suất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👉 Dự án xây dựng công cụ mô phỏng trực quan các thuật toán này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649938" y="4727678"/>
            <a:ext cx="9638062" cy="3134585"/>
          </a:xfrm>
          <a:custGeom>
            <a:avLst/>
            <a:gdLst/>
            <a:ahLst/>
            <a:cxnLst/>
            <a:rect r="r" b="b" t="t" l="l"/>
            <a:pathLst>
              <a:path h="3134585" w="9638062">
                <a:moveTo>
                  <a:pt x="0" y="0"/>
                </a:moveTo>
                <a:lnTo>
                  <a:pt x="9638062" y="0"/>
                </a:lnTo>
                <a:lnTo>
                  <a:pt x="9638062" y="3134585"/>
                </a:lnTo>
                <a:lnTo>
                  <a:pt x="0" y="3134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58270" r="0" b="-19728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830724"/>
            <a:ext cx="4489966" cy="617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sz="344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 THUẬT TOÁN FIFO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671220"/>
            <a:ext cx="9861644" cy="6600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guyên lý: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Trang vào trước → ra trước (Queue)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Cách hoạt động: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Khi đầ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 khung → xóa trang cũ nhất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Ưu đ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iểm: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Dễ cài đặt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Nhược điểm: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Không tố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ưu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Có thể xảy ra Belady’s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anomaly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👉 Không xét mức độ sử dụng trang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588817" y="4248559"/>
            <a:ext cx="10699183" cy="3271088"/>
          </a:xfrm>
          <a:custGeom>
            <a:avLst/>
            <a:gdLst/>
            <a:ahLst/>
            <a:cxnLst/>
            <a:rect r="r" b="b" t="t" l="l"/>
            <a:pathLst>
              <a:path h="3271088" w="10699183">
                <a:moveTo>
                  <a:pt x="0" y="0"/>
                </a:moveTo>
                <a:lnTo>
                  <a:pt x="10699183" y="0"/>
                </a:lnTo>
                <a:lnTo>
                  <a:pt x="10699183" y="3271088"/>
                </a:lnTo>
                <a:lnTo>
                  <a:pt x="0" y="32710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62406" r="0" b="-10963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830724"/>
            <a:ext cx="4368641" cy="617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sz="344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 THUẬT TOÁN LRU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671220"/>
            <a:ext cx="9861644" cy="6600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guyên lý: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Trang ít được sử dụng gần đâ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 nhất → bị thay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Dựa trên: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👉 Tính cục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bộ (Lo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cality)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Ưu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điểm: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Hiệu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quả cao tro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 thực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tế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Cải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tiến trong đề tài: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Dùng OrderedDict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ao tác nhanh O(1)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👉 Gần với hành vi thực tế của chương trình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875900" y="3722193"/>
            <a:ext cx="9412100" cy="3629305"/>
          </a:xfrm>
          <a:custGeom>
            <a:avLst/>
            <a:gdLst/>
            <a:ahLst/>
            <a:cxnLst/>
            <a:rect r="r" b="b" t="t" l="l"/>
            <a:pathLst>
              <a:path h="3629305" w="9412100">
                <a:moveTo>
                  <a:pt x="0" y="0"/>
                </a:moveTo>
                <a:lnTo>
                  <a:pt x="9412100" y="0"/>
                </a:lnTo>
                <a:lnTo>
                  <a:pt x="9412100" y="3629305"/>
                </a:lnTo>
                <a:lnTo>
                  <a:pt x="0" y="36293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5267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830724"/>
            <a:ext cx="4344233" cy="617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sz="344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 THUẬT TOÁN OPT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671220"/>
            <a:ext cx="7847200" cy="6600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guyên lý: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Thay trang sẽ không dùng trong tương lai lâu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nhất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Đặc điểm: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Tối ưu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tuyệt đố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Nhược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điểm: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Không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thể áp dụ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 thực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tế (cần biết trước tương lai)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Vai trò: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👉 Làm chuẩn so sánh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7002476" y="3113739"/>
          <a:ext cx="11008347" cy="4705703"/>
        </p:xfrm>
        <a:graphic>
          <a:graphicData uri="http://schemas.openxmlformats.org/drawingml/2006/table">
            <a:tbl>
              <a:tblPr/>
              <a:tblGrid>
                <a:gridCol w="3027028"/>
                <a:gridCol w="4451527"/>
                <a:gridCol w="3529792"/>
              </a:tblGrid>
              <a:tr h="117642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THUẬT TOÁN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TIME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PAGE FAULT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7642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FIFO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Nhanh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7642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LRU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Nhanh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7642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Lâu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28700" y="1830724"/>
            <a:ext cx="5681662" cy="617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sz="344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 SO SÁNH 3 THUẬT TOÁN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0" y="3474637"/>
            <a:ext cx="9936041" cy="3427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5998" indent="-347999" lvl="1">
              <a:lnSpc>
                <a:spcPts val="4513"/>
              </a:lnSpc>
              <a:buFont typeface="Arial"/>
              <a:buChar char="•"/>
            </a:pP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</a:t>
            </a: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uỗi tham chiếu:</a:t>
            </a:r>
          </a:p>
          <a:p>
            <a:pPr algn="l">
              <a:lnSpc>
                <a:spcPts val="4513"/>
              </a:lnSpc>
            </a:pP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👉7,0,1,2,0,3,0,4,2,3,0,3,2,1,2,0,1,7,0,1</a:t>
            </a:r>
          </a:p>
          <a:p>
            <a:pPr algn="l" marL="695998" indent="-347999" lvl="1">
              <a:lnSpc>
                <a:spcPts val="4513"/>
              </a:lnSpc>
              <a:buFont typeface="Arial"/>
              <a:buChar char="•"/>
            </a:pP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Số khung trang: 3</a:t>
            </a:r>
          </a:p>
          <a:p>
            <a:pPr algn="l" marL="695998" indent="-347999" lvl="1">
              <a:lnSpc>
                <a:spcPts val="4513"/>
              </a:lnSpc>
              <a:buFont typeface="Arial"/>
              <a:buChar char="•"/>
            </a:pP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Mỗi </a:t>
            </a: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thuật toá</a:t>
            </a: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 chạy</a:t>
            </a: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trên cùng dữ liệu</a:t>
            </a:r>
          </a:p>
          <a:p>
            <a:pPr algn="l">
              <a:lnSpc>
                <a:spcPts val="4513"/>
              </a:lnSpc>
            </a:pP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322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👉 Đảm bảo tính công bằng</a:t>
            </a:r>
          </a:p>
          <a:p>
            <a:pPr algn="l">
              <a:lnSpc>
                <a:spcPts val="4513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11376" y="2099316"/>
            <a:ext cx="2734866" cy="617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sz="344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6. NHẬN XÉT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52709" y="2962772"/>
            <a:ext cx="16706591" cy="6600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Về Hiệu suất (Page Fault): OPT tối ưu nhất (9 lỗi) &gt; LRU (12 lỗi) &gt; FIFO kém nhất (15 lỗi).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Về Thời gian xử lý: FIFO và LRU có tốc độ xử lý nhanh. OPT chạy chậm nhất do tốn tài nguyên tính toán để "quét" tương lai.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Kết luận thực tiễn: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OPT: Số lỗi trang thấp nhất nhưng thời gian xử lý lâu. Chỉ mang tính lý thuyết để làm hệ quy chiếu.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FIFO: Tốc độ nhanh nhưng số lỗi trang cao nhất. Kém hiệu quả trong thực tế.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LRU: Ít lỗi trang và tốc độ xử lý nhanh. Thuật toán tối ưu và mang tính thực tiễn cao nhất.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11376" y="2099316"/>
            <a:ext cx="2702838" cy="617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sz="344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7. KẾT LUẬN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14063" y="2630932"/>
            <a:ext cx="16098570" cy="419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OPT: Số lỗi trang thấp nhất nhưng thời gian xử lý lâu. Chỉ mang tính lý thuyết để làm hệ quy chiếu.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FO: Tốc độ nhanh nhưng số lỗi trang cao nhất. Kém hiệu quả trong thực tế.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LRU: Ít lỗi trang và tốc độ xử lý nhanh. Thuật toán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tối ưu và mang tính thực tiễn cao </a:t>
            </a:r>
            <a:r>
              <a:rPr lang="en-US" sz="33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nhất.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DAHG2a93Uog</dc:identifier>
  <dcterms:modified xsi:type="dcterms:W3CDTF">2011-08-01T06:04:30Z</dcterms:modified>
  <cp:revision>1</cp:revision>
  <dc:title>Thêm tiêu đề phụ</dc:title>
</cp:coreProperties>
</file>